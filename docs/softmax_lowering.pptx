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Linalg Softmax Lowering to XeGPU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in Lighthouse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Assumption: Small softmax dimension (64 in examples)</a:t>
            </a:r>
          </a:p>
          <a:p>
            <a:pPr>
              <a:defRPr sz="1800"/>
            </a:pPr>
            <a:r>
              <a:t>Seven-stage lowering process:</a:t>
            </a:r>
          </a:p>
          <a:p>
            <a:pPr>
              <a:defRPr sz="1800"/>
            </a:pPr>
            <a:r>
              <a:t>  1. Initial - High-level tensor operations</a:t>
            </a:r>
          </a:p>
          <a:p>
            <a:pPr>
              <a:defRPr sz="1800"/>
            </a:pPr>
            <a:r>
              <a:t>  2. Tiled-softmax - Tiled softmax operations</a:t>
            </a:r>
          </a:p>
          <a:p>
            <a:pPr>
              <a:defRPr sz="1800"/>
            </a:pPr>
            <a:r>
              <a:t>  3. Decomposed - Decomposition into constituent operations</a:t>
            </a:r>
          </a:p>
          <a:p>
            <a:pPr>
              <a:defRPr sz="1800"/>
            </a:pPr>
            <a:r>
              <a:t>  4. Vectorized - Vector operations</a:t>
            </a:r>
          </a:p>
          <a:p>
            <a:pPr>
              <a:defRPr sz="1800"/>
            </a:pPr>
            <a:r>
              <a:t>  5. Bufferized - Memory-based representation</a:t>
            </a:r>
          </a:p>
          <a:p>
            <a:pPr>
              <a:defRPr sz="1800"/>
            </a:pPr>
            <a:r>
              <a:t>  6. XeGPU-Initial - GPU kernel with XeGPU operations</a:t>
            </a:r>
          </a:p>
          <a:p>
            <a:pPr>
              <a:defRPr sz="1800"/>
            </a:pPr>
            <a:r>
              <a:t>  7. XeGPU-WG - Work-group optimized XeGPU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Stage 1: Initial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High-level linalg.softmax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func.func @payload(%arg0: memref&lt;1024x64xf32&gt;,</a:t>
            </a:r>
          </a:p>
          <a:p>
            <a:pPr>
              <a:defRPr sz="1000">
                <a:latin typeface="Courier New"/>
              </a:defRPr>
            </a:pPr>
            <a:r>
              <a:t>                    %arg1: memref&lt;1024x64xf32&gt;) {</a:t>
            </a:r>
          </a:p>
          <a:p>
            <a:pPr>
              <a:defRPr sz="1000">
                <a:latin typeface="Courier New"/>
              </a:defRPr>
            </a:pPr>
            <a:r>
              <a:t>  %2 = tensor.empty() : tensor&lt;1024x64xf32&gt;</a:t>
            </a:r>
          </a:p>
          <a:p>
            <a:pPr>
              <a:defRPr sz="1000">
                <a:latin typeface="Courier New"/>
              </a:defRPr>
            </a:pPr>
            <a:r>
              <a:t>  %3 = linalg.softmax dimension(1)</a:t>
            </a:r>
          </a:p>
          <a:p>
            <a:pPr>
              <a:defRPr sz="1000">
                <a:latin typeface="Courier New"/>
              </a:defRPr>
            </a:pPr>
            <a:r>
              <a:t>         ins(%1 : tensor&lt;1024x64xf32&gt;)</a:t>
            </a:r>
          </a:p>
          <a:p>
            <a:pPr>
              <a:defRPr sz="1000">
                <a:latin typeface="Courier New"/>
              </a:defRPr>
            </a:pPr>
            <a:r>
              <a:t>         outs(%2 : tensor&lt;1024x64xf32&gt;)</a:t>
            </a:r>
          </a:p>
          <a:p>
            <a:pPr>
              <a:defRPr sz="1000">
                <a:latin typeface="Courier New"/>
              </a:defRPr>
            </a:pPr>
            <a:r>
              <a:t>         -&gt; tensor&lt;1024x64xf32&gt;</a:t>
            </a:r>
          </a:p>
          <a:p>
            <a:pPr>
              <a:defRPr sz="1000">
                <a:latin typeface="Courier New"/>
              </a:defRPr>
            </a:pPr>
            <a:r>
              <a:t>  return</a:t>
            </a:r>
          </a:p>
          <a:p>
            <a:pPr>
              <a:defRPr sz="10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Stage 2: Tiled Softmax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Work distribution via scf.forall (16 parallel iterations, 64x64 tiles)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func.func @payload(%arg0: memref&lt;1024x64xf32&gt;,</a:t>
            </a:r>
          </a:p>
          <a:p>
            <a:pPr>
              <a:defRPr sz="1000">
                <a:latin typeface="Courier New"/>
              </a:defRPr>
            </a:pPr>
            <a:r>
              <a:t>                    %arg1: memref&lt;1024x64xf32&gt;) {</a:t>
            </a:r>
          </a:p>
          <a:p>
            <a:pPr>
              <a:defRPr sz="1000">
                <a:latin typeface="Courier New"/>
              </a:defRPr>
            </a:pPr>
            <a:r>
              <a:t>  %3 = scf.forall (%arg2) in (16)</a:t>
            </a:r>
          </a:p>
          <a:p>
            <a:pPr>
              <a:defRPr sz="1000">
                <a:latin typeface="Courier New"/>
              </a:defRPr>
            </a:pPr>
            <a:r>
              <a:t>         shared_outs(%arg3 = %2) -&gt; (tensor&lt;1024x64xf32&gt;) {</a:t>
            </a:r>
          </a:p>
          <a:p>
            <a:pPr>
              <a:defRPr sz="1000">
                <a:latin typeface="Courier New"/>
              </a:defRPr>
            </a:pPr>
            <a:r>
              <a:t>    %4 = affine.apply affine_map&lt;(d0) -&gt; (d0 * 64)&gt;(%arg2)</a:t>
            </a:r>
          </a:p>
          <a:p>
            <a:pPr>
              <a:defRPr sz="1000">
                <a:latin typeface="Courier New"/>
              </a:defRPr>
            </a:pPr>
            <a:r>
              <a:t>    %extracted_slice = tensor.extract_slice ...</a:t>
            </a:r>
          </a:p>
          <a:p>
            <a:pPr>
              <a:defRPr sz="1000">
                <a:latin typeface="Courier New"/>
              </a:defRPr>
            </a:pPr>
            <a:r>
              <a:t>    %5 = linalg.softmax dimension(1)</a:t>
            </a:r>
          </a:p>
          <a:p>
            <a:pPr>
              <a:defRPr sz="1000">
                <a:latin typeface="Courier New"/>
              </a:defRPr>
            </a:pPr>
            <a:r>
              <a:t>           ins(%extracted_slice : tensor&lt;64x64xf32&gt;)</a:t>
            </a:r>
          </a:p>
          <a:p>
            <a:pPr>
              <a:defRPr sz="1000">
                <a:latin typeface="Courier New"/>
              </a:defRPr>
            </a:pPr>
            <a:r>
              <a:t>           outs(%extracted_slice_0 : tensor&lt;64x64xf32&gt;)</a:t>
            </a:r>
          </a:p>
          <a:p>
            <a:pPr>
              <a:defRPr sz="1000">
                <a:latin typeface="Courier New"/>
              </a:defRPr>
            </a:pPr>
            <a:r>
              <a:t>           -&gt; tensor&lt;64x64xf32&gt;</a:t>
            </a:r>
          </a:p>
          <a:p>
            <a:pPr>
              <a:defRPr sz="1000">
                <a:latin typeface="Courier New"/>
              </a:defRPr>
            </a:pPr>
            <a:r>
              <a:t>    scf.forall.in_parallel {</a:t>
            </a:r>
          </a:p>
          <a:p>
            <a:pPr>
              <a:defRPr sz="1000">
                <a:latin typeface="Courier New"/>
              </a:defRPr>
            </a:pPr>
            <a:r>
              <a:t>      tensor.parallel_insert_slice %5 into %arg3[%4, %c0]</a:t>
            </a:r>
          </a:p>
          <a:p>
            <a:pPr>
              <a:defRPr sz="1000">
                <a:latin typeface="Courier New"/>
              </a:defRPr>
            </a:pPr>
            <a:r>
              <a:t>    }</a:t>
            </a:r>
          </a:p>
          <a:p>
            <a:pPr>
              <a:defRPr sz="1000">
                <a:latin typeface="Courier New"/>
              </a:defRPr>
            </a:pPr>
            <a:r>
              <a:t>  }</a:t>
            </a:r>
          </a:p>
          <a:p>
            <a:pPr>
              <a:defRPr sz="1000">
                <a:latin typeface="Courier New"/>
              </a:defRPr>
            </a:pPr>
            <a:r>
              <a:t>  return</a:t>
            </a:r>
          </a:p>
          <a:p>
            <a:pPr>
              <a:defRPr sz="10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Decomposed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Softmax decomposed into 4 linalg.generic operations:</a:t>
            </a:r>
          </a:p>
          <a:p>
            <a:pPr>
              <a:defRPr sz="1800"/>
            </a:pPr>
            <a:r>
              <a:t>  1. Max reduction along dimension 1</a:t>
            </a:r>
          </a:p>
          <a:p>
            <a:pPr>
              <a:defRPr sz="1800"/>
            </a:pPr>
            <a:r>
              <a:t>  2. Subtract max and exponentiate (sub + exp)</a:t>
            </a:r>
          </a:p>
          <a:p>
            <a:pPr>
              <a:defRPr sz="1800"/>
            </a:pPr>
            <a:r>
              <a:t>  3. Sum exponentials</a:t>
            </a:r>
          </a:p>
          <a:p>
            <a:pPr>
              <a:defRPr sz="1800"/>
            </a:pPr>
            <a:r>
              <a:t>  4. Normalize by dividing by sum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Uses structured.structured_decompose_interface</a:t>
            </a:r>
          </a:p>
          <a:p>
            <a:pPr>
              <a:defRPr sz="1800"/>
            </a:pPr>
            <a:r>
              <a:t>implemented by linalg.softmax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Stage 3: Decomposed (Code)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// Step 1: Find max</a:t>
            </a:r>
          </a:p>
          <a:p>
            <a:pPr>
              <a:defRPr sz="1000">
                <a:latin typeface="Courier New"/>
              </a:defRPr>
            </a:pPr>
            <a:r>
              <a:t>%6 = linalg.generic // max reduction</a:t>
            </a:r>
          </a:p>
          <a:p>
            <a:pPr>
              <a:defRPr sz="1000">
                <a:latin typeface="Courier New"/>
              </a:defRPr>
            </a:pPr>
            <a:r>
              <a:t>  %11 = arith.maxnumf %in, %out : f32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// Step 2: Subtract max and exp</a:t>
            </a:r>
          </a:p>
          <a:p>
            <a:pPr>
              <a:defRPr sz="1000">
                <a:latin typeface="Courier New"/>
              </a:defRPr>
            </a:pPr>
            <a:r>
              <a:t>%7 = linalg.generic</a:t>
            </a:r>
          </a:p>
          <a:p>
            <a:pPr>
              <a:defRPr sz="1000">
                <a:latin typeface="Courier New"/>
              </a:defRPr>
            </a:pPr>
            <a:r>
              <a:t>  %11 = arith.subf %in, %in_2 : f32</a:t>
            </a:r>
          </a:p>
          <a:p>
            <a:pPr>
              <a:defRPr sz="1000">
                <a:latin typeface="Courier New"/>
              </a:defRPr>
            </a:pPr>
            <a:r>
              <a:t>  %12 = math.exp %11 : f32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// Step 3: Sum exponentials</a:t>
            </a:r>
          </a:p>
          <a:p>
            <a:pPr>
              <a:defRPr sz="1000">
                <a:latin typeface="Courier New"/>
              </a:defRPr>
            </a:pPr>
            <a:r>
              <a:t>%9 = linalg.generic</a:t>
            </a:r>
          </a:p>
          <a:p>
            <a:pPr>
              <a:defRPr sz="1000">
                <a:latin typeface="Courier New"/>
              </a:defRPr>
            </a:pPr>
            <a:r>
              <a:t>  %11 = arith.addf %in, %out : f32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// Step 4: Normalize</a:t>
            </a:r>
          </a:p>
          <a:p>
            <a:pPr>
              <a:defRPr sz="1000">
                <a:latin typeface="Courier New"/>
              </a:defRPr>
            </a:pPr>
            <a:r>
              <a:t>%10 = linalg.generic</a:t>
            </a:r>
          </a:p>
          <a:p>
            <a:pPr>
              <a:defRPr sz="1000">
                <a:latin typeface="Courier New"/>
              </a:defRPr>
            </a:pPr>
            <a:r>
              <a:t>  %11 = arith.divf %in, %in_2 : f32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Stage 4: Vectorized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linalg.generic replaced with vector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// Vector read: Load 64x64 tile</a:t>
            </a:r>
          </a:p>
          <a:p>
            <a:pPr>
              <a:defRPr sz="1000">
                <a:latin typeface="Courier New"/>
              </a:defRPr>
            </a:pPr>
            <a:r>
              <a:t>%5 = vector.transfer_read %1[%4, %c0], %0 :</a:t>
            </a:r>
          </a:p>
          <a:p>
            <a:pPr>
              <a:defRPr sz="1000">
                <a:latin typeface="Courier New"/>
              </a:defRPr>
            </a:pPr>
            <a:r>
              <a:t>       tensor&lt;1024x64xf32&gt;, vector&lt;64x64xf32&gt;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// Max reduction</a:t>
            </a:r>
          </a:p>
          <a:p>
            <a:pPr>
              <a:defRPr sz="1000">
                <a:latin typeface="Courier New"/>
              </a:defRPr>
            </a:pPr>
            <a:r>
              <a:t>%6 = vector.multi_reduction &lt;maxnumf&gt;, %5, %cst_0 [1] :</a:t>
            </a:r>
          </a:p>
          <a:p>
            <a:pPr>
              <a:defRPr sz="1000">
                <a:latin typeface="Courier New"/>
              </a:defRPr>
            </a:pPr>
            <a:r>
              <a:t>       vector&lt;64x64xf32&gt; to vector&lt;64xf32&gt;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// Broadcast and transpose</a:t>
            </a:r>
          </a:p>
          <a:p>
            <a:pPr>
              <a:defRPr sz="1000">
                <a:latin typeface="Courier New"/>
              </a:defRPr>
            </a:pPr>
            <a:r>
              <a:t>%7 = vector.broadcast %6 : vector&lt;64xf32&gt; to vector&lt;64x64xf32&gt;</a:t>
            </a:r>
          </a:p>
          <a:p>
            <a:pPr>
              <a:defRPr sz="1000">
                <a:latin typeface="Courier New"/>
              </a:defRPr>
            </a:pPr>
            <a:r>
              <a:t>%8 = vector.transpose %7, [1, 0]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// Subtract and exp</a:t>
            </a:r>
          </a:p>
          <a:p>
            <a:pPr>
              <a:defRPr sz="1000">
                <a:latin typeface="Courier New"/>
              </a:defRPr>
            </a:pPr>
            <a:r>
              <a:t>%9 = arith.subf %5, %8 : vector&lt;64x64xf32&gt;</a:t>
            </a:r>
          </a:p>
          <a:p>
            <a:pPr>
              <a:defRPr sz="1000">
                <a:latin typeface="Courier New"/>
              </a:defRPr>
            </a:pPr>
            <a:r>
              <a:t>%10 = math.exp %9 : vector&lt;64x64xf32&gt;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// Sum, broadcast, divide</a:t>
            </a:r>
          </a:p>
          <a:p>
            <a:pPr>
              <a:defRPr sz="1000">
                <a:latin typeface="Courier New"/>
              </a:defRPr>
            </a:pPr>
            <a:r>
              <a:t>%11 = vector.multi_reduction &lt;add&gt;, %10, %cst [1]</a:t>
            </a:r>
          </a:p>
          <a:p>
            <a:pPr>
              <a:defRPr sz="1000">
                <a:latin typeface="Courier New"/>
              </a:defRPr>
            </a:pPr>
            <a:r>
              <a:t>%14 = arith.divf %10, %13 : vector&lt;64x64xf32&gt;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Stage 5: Bufferized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Tensors eliminated, working directly with memrefs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scf.forall (%arg2) in (16) {</a:t>
            </a:r>
          </a:p>
          <a:p>
            <a:pPr>
              <a:defRPr sz="1000">
                <a:latin typeface="Courier New"/>
              </a:defRPr>
            </a:pPr>
            <a:r>
              <a:t>  %1 = affine.apply #map(%arg2)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  // Direct memref read (not tensor)</a:t>
            </a:r>
          </a:p>
          <a:p>
            <a:pPr>
              <a:defRPr sz="1000">
                <a:latin typeface="Courier New"/>
              </a:defRPr>
            </a:pPr>
            <a:r>
              <a:t>  %2 = vector.transfer_read %arg1[%1, %c0], %0 :</a:t>
            </a:r>
          </a:p>
          <a:p>
            <a:pPr>
              <a:defRPr sz="1000">
                <a:latin typeface="Courier New"/>
              </a:defRPr>
            </a:pPr>
            <a:r>
              <a:t>         memref&lt;1024x64xf32&gt;, vector&lt;64x64xf32&gt;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  // Max reduction</a:t>
            </a:r>
          </a:p>
          <a:p>
            <a:pPr>
              <a:defRPr sz="1000">
                <a:latin typeface="Courier New"/>
              </a:defRPr>
            </a:pPr>
            <a:r>
              <a:t>  %3 = vector.multi_reduction &lt;maxnumf&gt;, %2, %cst_0 [1]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  // Center and exp</a:t>
            </a:r>
          </a:p>
          <a:p>
            <a:pPr>
              <a:defRPr sz="1000">
                <a:latin typeface="Courier New"/>
              </a:defRPr>
            </a:pPr>
            <a:r>
              <a:t>  %6 = arith.subf %2, %5 : vector&lt;64x64xf32&gt;</a:t>
            </a:r>
          </a:p>
          <a:p>
            <a:pPr>
              <a:defRPr sz="1000">
                <a:latin typeface="Courier New"/>
              </a:defRPr>
            </a:pPr>
            <a:r>
              <a:t>  %7 = math.exp %6 : vector&lt;64x64xf32&gt;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  // Sum and normalize</a:t>
            </a:r>
          </a:p>
          <a:p>
            <a:pPr>
              <a:defRPr sz="1000">
                <a:latin typeface="Courier New"/>
              </a:defRPr>
            </a:pPr>
            <a:r>
              <a:t>  %11 = arith.divf %7, %10 : vector&lt;64x64xf32&gt;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  // Direct memref write</a:t>
            </a:r>
          </a:p>
          <a:p>
            <a:pPr>
              <a:defRPr sz="1000">
                <a:latin typeface="Courier New"/>
              </a:defRPr>
            </a:pPr>
            <a:r>
              <a:t>  vector.transfer_write %11, %arg0[%1, %c0]</a:t>
            </a:r>
          </a:p>
          <a:p>
            <a:pPr>
              <a:defRPr sz="10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6: XeGPU-Initial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GPU kernel separated from host code (GPU Outlining)</a:t>
            </a:r>
          </a:p>
          <a:p>
            <a:pPr>
              <a:defRPr sz="1800"/>
            </a:pPr>
            <a:r>
              <a:t>gpu.launch_func with grid/block dimensions</a:t>
            </a:r>
          </a:p>
          <a:p>
            <a:pPr>
              <a:defRPr sz="1800"/>
            </a:pPr>
            <a:r>
              <a:t>Uses vector-to-xegpu transformation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Host side:</a:t>
            </a:r>
          </a:p>
          <a:p>
            <a:pPr>
              <a:defRPr sz="1800"/>
            </a:pPr>
            <a:r>
              <a:t>  • Calls gpu.launch_func with 16 blocks, 128 threads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GPU kernel:</a:t>
            </a:r>
          </a:p>
          <a:p>
            <a:pPr>
              <a:defRPr sz="1800"/>
            </a:pPr>
            <a:r>
              <a:t>  • XeGPU tensor descriptors for load/store</a:t>
            </a:r>
          </a:p>
          <a:p>
            <a:pPr>
              <a:defRPr sz="1800"/>
            </a:pPr>
            <a:r>
              <a:t>  • xegpu.load_nd and xegpu.store_nd operations</a:t>
            </a:r>
          </a:p>
          <a:p>
            <a:pPr>
              <a:defRPr sz="1800"/>
            </a:pPr>
            <a:r>
              <a:t>  • Same compute operations as bufferized stage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Stage 6: XeGPU-Initial (Code)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// Host side</a:t>
            </a:r>
          </a:p>
          <a:p>
            <a:pPr>
              <a:defRPr sz="1000">
                <a:latin typeface="Courier New"/>
              </a:defRPr>
            </a:pPr>
            <a:r>
              <a:t>gpu.launch_func @payload_kernel::@payload_kernel</a:t>
            </a:r>
          </a:p>
          <a:p>
            <a:pPr>
              <a:defRPr sz="1000">
                <a:latin typeface="Courier New"/>
              </a:defRPr>
            </a:pPr>
            <a:r>
              <a:t>  blocks in (%c16, %c1, %c1)</a:t>
            </a:r>
          </a:p>
          <a:p>
            <a:pPr>
              <a:defRPr sz="1000">
                <a:latin typeface="Courier New"/>
              </a:defRPr>
            </a:pPr>
            <a:r>
              <a:t>  threads in (%c128, %c1, %c1)</a:t>
            </a:r>
          </a:p>
          <a:p>
            <a:pPr>
              <a:defRPr sz="1000">
                <a:latin typeface="Courier New"/>
              </a:defRPr>
            </a:pPr>
            <a:r>
              <a:t>  args(%arg1, %arg0 : memref&lt;1024x64xf32&gt;, ...)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// GPU Kernel</a:t>
            </a:r>
          </a:p>
          <a:p>
            <a:pPr>
              <a:defRPr sz="1000">
                <a:latin typeface="Courier New"/>
              </a:defRPr>
            </a:pPr>
            <a:r>
              <a:t>gpu.module @payload_kernel {</a:t>
            </a:r>
          </a:p>
          <a:p>
            <a:pPr>
              <a:defRPr sz="1000">
                <a:latin typeface="Courier New"/>
              </a:defRPr>
            </a:pPr>
            <a:r>
              <a:t>  gpu.func @payload_kernel(...) kernel {</a:t>
            </a:r>
          </a:p>
          <a:p>
            <a:pPr>
              <a:defRPr sz="1000">
                <a:latin typeface="Courier New"/>
              </a:defRPr>
            </a:pPr>
            <a:r>
              <a:t>    // Create descriptor and load</a:t>
            </a:r>
          </a:p>
          <a:p>
            <a:pPr>
              <a:defRPr sz="1000">
                <a:latin typeface="Courier New"/>
              </a:defRPr>
            </a:pPr>
            <a:r>
              <a:t>    %1 = xegpu.create_nd_tdesc %arg0 :</a:t>
            </a:r>
          </a:p>
          <a:p>
            <a:pPr>
              <a:defRPr sz="1000">
                <a:latin typeface="Courier New"/>
              </a:defRPr>
            </a:pPr>
            <a:r>
              <a:t>           !xegpu.tensor_desc&lt;64x64xf32, ...&gt;</a:t>
            </a:r>
          </a:p>
          <a:p>
            <a:pPr>
              <a:defRPr sz="1000">
                <a:latin typeface="Courier New"/>
              </a:defRPr>
            </a:pPr>
            <a:r>
              <a:t>    %2 = xegpu.load_nd %1[%0, 0] : ... -&gt; vector&lt;64x64xf32&gt;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    // Compute operations...</a:t>
            </a:r>
          </a:p>
          <a:p>
            <a:pPr>
              <a:defRPr sz="1000">
                <a:latin typeface="Courier New"/>
              </a:defRPr>
            </a:pPr>
          </a:p>
          <a:p>
            <a:pPr>
              <a:defRPr sz="1000">
                <a:latin typeface="Courier New"/>
              </a:defRPr>
            </a:pPr>
            <a:r>
              <a:t>    // Store results</a:t>
            </a:r>
          </a:p>
          <a:p>
            <a:pPr>
              <a:defRPr sz="1000">
                <a:latin typeface="Courier New"/>
              </a:defRPr>
            </a:pPr>
            <a:r>
              <a:t>    xegpu.store_nd %11, %12[%0, 0] : vector&lt;64x64xf32&gt;</a:t>
            </a:r>
          </a:p>
          <a:p>
            <a:pPr>
              <a:defRPr sz="1000">
                <a:latin typeface="Courier New"/>
              </a:defRPr>
            </a:pPr>
            <a:r>
              <a:t>  }</a:t>
            </a:r>
          </a:p>
          <a:p>
            <a:pPr>
              <a:defRPr sz="10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Stage 7: XeGPU-WG (Work-Group Optimized)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Sets layout for anchor xegpu ops. Each WG: [8,1] subgroups doing 8x64 softmax slice. Layout propagation does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// Store with layout hints</a:t>
            </a:r>
          </a:p>
          <a:p>
            <a:pPr>
              <a:defRPr sz="1000">
                <a:latin typeface="Courier New"/>
              </a:defRPr>
            </a:pPr>
            <a:r>
              <a:t>xegpu.store_nd %11, %12[%0, 0]</a:t>
            </a:r>
          </a:p>
          <a:p>
            <a:pPr>
              <a:defRPr sz="1000">
                <a:latin typeface="Courier New"/>
              </a:defRPr>
            </a:pPr>
            <a:r>
              <a:t>  &lt;{layout = #xegpu.layout&lt;sg_layout = [8, 1],</a:t>
            </a:r>
          </a:p>
          <a:p>
            <a:pPr>
              <a:defRPr sz="1000">
                <a:latin typeface="Courier New"/>
              </a:defRPr>
            </a:pPr>
            <a:r>
              <a:t>                           sg_data = [8, 64]&gt;}&gt; :</a:t>
            </a:r>
          </a:p>
          <a:p>
            <a:pPr>
              <a:defRPr sz="1000">
                <a:latin typeface="Courier New"/>
              </a:defRPr>
            </a:pPr>
            <a:r>
              <a:t>  vector&lt;64x64xf32&gt;,</a:t>
            </a:r>
          </a:p>
          <a:p>
            <a:pPr>
              <a:defRPr sz="1000">
                <a:latin typeface="Courier New"/>
              </a:defRPr>
            </a:pPr>
            <a:r>
              <a:t>  !xegpu.tensor_desc&lt;64x64xf32, ...&gt;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Pipeline Infrastructure (lighthouse.pipeline):</a:t>
            </a:r>
          </a:p>
          <a:p>
            <a:pPr>
              <a:defRPr sz="1800"/>
            </a:pPr>
            <a:r>
              <a:t>  • TransformDriver, apply_registered_pass</a:t>
            </a:r>
          </a:p>
          <a:p>
            <a:pPr>
              <a:defRPr sz="1800"/>
            </a:pPr>
            <a:r>
              <a:t>  • canonicalize, match utilities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Execution Infrastructure (lighthouse.execution):</a:t>
            </a:r>
          </a:p>
          <a:p>
            <a:pPr>
              <a:defRPr sz="1800"/>
            </a:pPr>
            <a:r>
              <a:t>  • execute, benchmark</a:t>
            </a:r>
          </a:p>
          <a:p>
            <a:pPr>
              <a:defRPr sz="1800"/>
            </a:pPr>
            <a:r>
              <a:t>  • GPUMemoryManager, get_bench_wrapper_schedule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XeGPU Lowering (lighthouse.schedule.xegpu.helper):</a:t>
            </a:r>
          </a:p>
          <a:p>
            <a:pPr>
              <a:defRPr sz="1800"/>
            </a:pPr>
            <a:r>
              <a:t>  • bundle_xegpu_to_binary (shared with matmul)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Payload Generation (lighthouse.ingress.mlir_gen):</a:t>
            </a:r>
          </a:p>
          <a:p>
            <a:pPr>
              <a:defRPr sz="1800"/>
            </a:pPr>
            <a:r>
              <a:t>  • Type conversion utilities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Larger Softmax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Challenge: Handle larger softmax dimension sizes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Previous approach: Tiled parallel dimension only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New approach: Tile reductions along softmax dimension</a:t>
            </a:r>
          </a:p>
          <a:p>
            <a:pPr>
              <a:defRPr sz="1800"/>
            </a:pPr>
            <a:r>
              <a:t>  • Tile with appropriate step size (e.g., 16)</a:t>
            </a:r>
          </a:p>
          <a:p>
            <a:pPr>
              <a:defRPr sz="1800"/>
            </a:pPr>
            <a:r>
              <a:t>  • Fuse producers into consumers</a:t>
            </a:r>
          </a:p>
          <a:p>
            <a:pPr>
              <a:defRPr sz="1800"/>
            </a:pPr>
            <a:r>
              <a:t>  • Enable streaming computation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stages (A-I):</a:t>
            </a:r>
          </a:p>
          <a:p>
            <a:pPr>
              <a:defRPr sz="1800"/>
            </a:pPr>
            <a:r>
              <a:t>  A. Tile div op → B. Fuse sub+exp into div</a:t>
            </a:r>
          </a:p>
          <a:p>
            <a:pPr>
              <a:defRPr sz="1800"/>
            </a:pPr>
            <a:r>
              <a:t>  C. Tile sum → D. Fuse sub+exp into sum</a:t>
            </a:r>
          </a:p>
          <a:p>
            <a:pPr>
              <a:defRPr sz="1800"/>
            </a:pPr>
            <a:r>
              <a:t>  E. Tile max → F-I. Vectorize, bufferize, outline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Softmax: Tiling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Stage A: Tile division op (step=16, 64x16 chunks)</a:t>
            </a:r>
          </a:p>
          <a:p>
            <a:pPr>
              <a:defRPr sz="1800"/>
            </a:pPr>
            <a:r>
              <a:t>Stage B: Fuse sub+exp producer into div loop</a:t>
            </a:r>
          </a:p>
          <a:p>
            <a:pPr>
              <a:defRPr sz="1800"/>
            </a:pPr>
            <a:r>
              <a:t>Stage C: Tile sum reduction with intermediate accumulator</a:t>
            </a:r>
          </a:p>
          <a:p>
            <a:pPr>
              <a:defRPr sz="1800"/>
            </a:pPr>
            <a:r>
              <a:t>Stage D: Fuse sub+exp into sum loop</a:t>
            </a:r>
          </a:p>
          <a:p>
            <a:pPr>
              <a:defRPr sz="1800"/>
            </a:pPr>
            <a:r>
              <a:t>Stage E: Tile max reduction</a:t>
            </a:r>
          </a:p>
          <a:p>
            <a:pPr>
              <a:defRPr sz="1800"/>
            </a:pPr>
            <a:r>
              <a:t>Stage F: Vectorization (64x16 vector operations)</a:t>
            </a:r>
          </a:p>
          <a:p>
            <a:pPr>
              <a:defRPr sz="1800"/>
            </a:pPr>
            <a:r>
              <a:t>Stage G: Bufferization (stack allocation)</a:t>
            </a:r>
          </a:p>
          <a:p>
            <a:pPr>
              <a:defRPr sz="1800"/>
            </a:pPr>
            <a:r>
              <a:t>Stage H: Promote to stack (memref.alloca)</a:t>
            </a:r>
          </a:p>
          <a:p>
            <a:pPr>
              <a:defRPr sz="1800"/>
            </a:pPr>
            <a:r>
              <a:t>Stage I: GPU outlining (128 threads = 8 sg × 16)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Systematic lowering from high-level linalg.softmax to XeGPU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transformations:</a:t>
            </a:r>
          </a:p>
          <a:p>
            <a:pPr>
              <a:defRPr sz="1800"/>
            </a:pPr>
            <a:r>
              <a:t>  • Tiling for parallelism</a:t>
            </a:r>
          </a:p>
          <a:p>
            <a:pPr>
              <a:defRPr sz="1800"/>
            </a:pPr>
            <a:r>
              <a:t>  • Decomposition into primitives</a:t>
            </a:r>
          </a:p>
          <a:p>
            <a:pPr>
              <a:defRPr sz="1800"/>
            </a:pPr>
            <a:r>
              <a:t>  • Vectorization for efficiency</a:t>
            </a:r>
          </a:p>
          <a:p>
            <a:pPr>
              <a:defRPr sz="1800"/>
            </a:pPr>
            <a:r>
              <a:t>  • GPU-specific optimizations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Extensible infrastructure:</a:t>
            </a:r>
          </a:p>
          <a:p>
            <a:pPr>
              <a:defRPr sz="1800"/>
            </a:pPr>
            <a:r>
              <a:t>  • Reusable across workloads (matmul, softmax, etc.)</a:t>
            </a:r>
          </a:p>
          <a:p>
            <a:pPr>
              <a:defRPr sz="1800"/>
            </a:pPr>
            <a:r>
              <a:t>  • Streaming computation for large dimensions</a:t>
            </a:r>
          </a:p>
          <a:p>
            <a:pPr>
              <a:defRPr sz="1800"/>
            </a:pPr>
            <a:r>
              <a:t>  • Work-group layout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